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8" r:id="rId5"/>
    <p:sldId id="283" r:id="rId6"/>
    <p:sldId id="297" r:id="rId7"/>
    <p:sldId id="292" r:id="rId8"/>
    <p:sldId id="284" r:id="rId9"/>
    <p:sldId id="294" r:id="rId10"/>
    <p:sldId id="293" r:id="rId11"/>
    <p:sldId id="295" r:id="rId12"/>
    <p:sldId id="299" r:id="rId13"/>
    <p:sldId id="300" r:id="rId14"/>
    <p:sldId id="301" r:id="rId15"/>
    <p:sldId id="285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712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outlineViewPr>
    <p:cViewPr>
      <p:scale>
        <a:sx n="33" d="100"/>
        <a:sy n="33" d="100"/>
      </p:scale>
      <p:origin x="0" y="-9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8/24/2026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er Slid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/>
          <a:lstStyle>
            <a:lvl1pPr algn="r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/>
          <a:lstStyle>
            <a:lvl1pPr algn="l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xmlns="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307689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815037"/>
            <a:ext cx="5472000" cy="33769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xmlns="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308214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xmlns="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812214"/>
            <a:ext cx="5472113" cy="337903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 descr="Accent block left">
            <a:extLst>
              <a:ext uri="{FF2B5EF4-FFF2-40B4-BE49-F238E27FC236}">
                <a16:creationId xmlns:a16="http://schemas.microsoft.com/office/drawing/2014/main" xmlns="" id="{BBC0CAF5-0DE6-4BEA-824E-124A54A76A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 descr="Accent bar right&#10;">
            <a:extLst>
              <a:ext uri="{FF2B5EF4-FFF2-40B4-BE49-F238E27FC236}">
                <a16:creationId xmlns:a16="http://schemas.microsoft.com/office/drawing/2014/main" xmlns="" id="{ED008080-B2F5-441A-8B15-30AE86BBF9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xmlns="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xmlns="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xmlns="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xmlns="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xmlns="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xmlns="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xmlns="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xmlns="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xmlns="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7760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14B95064-E6BF-43CD-ACBD-6363E8D9B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114627"/>
            <a:ext cx="5956300" cy="1095056"/>
          </a:xfr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266700" lvl="0" indent="-26670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2563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08000"/>
            <a:ext cx="11328000" cy="5183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6207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EE1E0B79-3CC8-4DCF-8AEC-AC43BC9A3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886" y="1007250"/>
            <a:ext cx="5460114" cy="5169713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15546508-E26C-46CD-8939-D20E71BF4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007250"/>
            <a:ext cx="5448115" cy="5169713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1555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xmlns="" id="{48A1A904-FE62-4BE3-BAE9-0EEAE7B1E3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800" y="101623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 descr="Accent bar right&#10;">
            <a:extLst>
              <a:ext uri="{FF2B5EF4-FFF2-40B4-BE49-F238E27FC236}">
                <a16:creationId xmlns:a16="http://schemas.microsoft.com/office/drawing/2014/main" xmlns="" id="{3E8A46E0-47C2-4441-B7DD-F621A80F1F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299887" y="101623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D902C307-6561-4E11-9899-1F34830A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24128"/>
            <a:ext cx="5448115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xmlns="" id="{CD73439B-6B1B-47C5-B2B0-409015FB3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086" y="1224128"/>
            <a:ext cx="5447914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xmlns="" id="{12AC6878-44C6-4445-A225-70C0DC482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9886" y="1955731"/>
            <a:ext cx="5447914" cy="4233932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xmlns="" id="{6D675DA8-374F-4915-973A-53612A41F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943031"/>
            <a:ext cx="5447914" cy="4246632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2531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xmlns="" id="{48A1A904-FE62-4BE3-BAE9-0EEAE7B1E3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85B68CA9-AC4C-4D15-9BA1-A9F1AC56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xmlns="" id="{29B24D8A-D8A5-4F57-A260-A4CF75FCB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432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xmlns="" id="{48A1A904-FE62-4BE3-BAE9-0EEAE7B1E3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xmlns="" id="{3E50A411-2E68-4F4D-B4BC-62E87C633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xmlns="" id="{2FBF39A8-0BD5-48FD-9993-F595D4F72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0633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0DB3A426-6D4A-4D91-ACD6-A2C25BAE44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4370" y="2033588"/>
            <a:ext cx="8863262" cy="2790825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243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043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xmlns="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4FDC6F9-37F9-4E25-AECA-D307B8421C73}"/>
              </a:ext>
            </a:extLst>
          </p:cNvPr>
          <p:cNvSpPr txBox="1"/>
          <p:nvPr userDrawn="1"/>
        </p:nvSpPr>
        <p:spPr>
          <a:xfrm>
            <a:off x="10243100" y="6430153"/>
            <a:ext cx="1053900" cy="365535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>
              <a:lnSpc>
                <a:spcPts val="1000"/>
              </a:lnSpc>
            </a:pPr>
            <a:endParaRPr lang="en-US" sz="2500" b="1" i="0" spc="-100" baseline="0" noProof="0" dirty="0" smtClean="0">
              <a:solidFill>
                <a:schemeClr val="accent1"/>
              </a:solidFill>
              <a:latin typeface="+mj-lt"/>
            </a:endParaRPr>
          </a:p>
          <a:p>
            <a:pPr algn="r">
              <a:lnSpc>
                <a:spcPts val="1000"/>
              </a:lnSpc>
            </a:pPr>
            <a:endParaRPr lang="en-US" sz="1200" b="0" i="0" spc="140" baseline="0" noProof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3" r:id="rId18"/>
    <p:sldLayoutId id="2147483674" r:id="rId19"/>
    <p:sldLayoutId id="2147483654" r:id="rId20"/>
    <p:sldLayoutId id="2147483655" r:id="rId21"/>
    <p:sldLayoutId id="2147483675" r:id="rId22"/>
    <p:sldLayoutId id="2147483672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5" Type="http://schemas.openxmlformats.org/officeDocument/2006/relationships/image" Target="../media/image9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:a16="http://schemas.microsoft.com/office/drawing/2014/main" xmlns="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xmlns="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/>
          <a:lstStyle/>
          <a:p>
            <a:r>
              <a:rPr lang="en-IN" dirty="0"/>
              <a:t>MBAG &amp; ASSOCIATES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xmlns="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/>
          <a:lstStyle/>
          <a:p>
            <a:r>
              <a:rPr lang="en-US" dirty="0"/>
              <a:t>Chartered Accountants – Firm Credentials &amp; Client Experience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66C1DE0A-7865-466B-B5D7-781C92357026}"/>
              </a:ext>
            </a:extLst>
          </p:cNvPr>
          <p:cNvSpPr txBox="1"/>
          <p:nvPr/>
        </p:nvSpPr>
        <p:spPr>
          <a:xfrm>
            <a:off x="10284923" y="4275430"/>
            <a:ext cx="1402741" cy="327128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3600" b="1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MBAG</a:t>
            </a:r>
            <a:endParaRPr lang="en-US" b="0" i="0" spc="140" baseline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385" y="1773044"/>
            <a:ext cx="5580615" cy="389506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/>
              <a:t>Background:</a:t>
            </a:r>
            <a:r>
              <a:rPr lang="en-US" sz="2800" dirty="0" smtClean="0"/>
              <a:t> </a:t>
            </a:r>
            <a:endParaRPr lang="en-US" sz="2800" dirty="0"/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Established in 2012 as a multi-service Chartered Accountancy firm.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Offices in </a:t>
            </a:r>
            <a:r>
              <a:rPr lang="en-US" dirty="0" err="1"/>
              <a:t>Laxmi</a:t>
            </a:r>
            <a:r>
              <a:rPr lang="en-US" dirty="0"/>
              <a:t> Nagar (Delhi) and </a:t>
            </a:r>
            <a:r>
              <a:rPr lang="en-US" dirty="0" err="1"/>
              <a:t>Khair</a:t>
            </a:r>
            <a:r>
              <a:rPr lang="en-US" dirty="0"/>
              <a:t> (Aligarh, U.P.).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Team of 9 audit and accounts staff supported by semi-qualified staff and domain specialists.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Panel of Company Secretaries and Advocates for </a:t>
            </a:r>
            <a:r>
              <a:rPr lang="en-US" dirty="0" smtClean="0"/>
              <a:t>specialized </a:t>
            </a:r>
            <a:r>
              <a:rPr lang="en-US" dirty="0"/>
              <a:t>technical support.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 smtClean="0"/>
              <a:t>Recognized </a:t>
            </a:r>
            <a:r>
              <a:rPr lang="en-US" dirty="0"/>
              <a:t>as a "Learning Organization" with ongoing training in advanced management practices.</a:t>
            </a:r>
            <a:endParaRPr lang="en-US" dirty="0"/>
          </a:p>
        </p:txBody>
      </p:sp>
      <p:pic>
        <p:nvPicPr>
          <p:cNvPr id="9" name="Picture Placeholder 8" descr="Handing touching mobile phone">
            <a:extLst>
              <a:ext uri="{FF2B5EF4-FFF2-40B4-BE49-F238E27FC236}">
                <a16:creationId xmlns:a16="http://schemas.microsoft.com/office/drawing/2014/main" xmlns="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EFA08948-2B6F-46B1-9D2D-8D7B2B3FBD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Firm Snapshot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 smtClean="0"/>
              <a:t>MBAG &amp; Associates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Hand writing on post-it note">
            <a:extLst>
              <a:ext uri="{FF2B5EF4-FFF2-40B4-BE49-F238E27FC236}">
                <a16:creationId xmlns:a16="http://schemas.microsoft.com/office/drawing/2014/main" xmlns="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371351"/>
          </a:xfr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EFA08948-2B6F-46B1-9D2D-8D7B2B3FBD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334" y="312233"/>
            <a:ext cx="6641666" cy="1734052"/>
          </a:xfrm>
        </p:spPr>
        <p:txBody>
          <a:bodyPr/>
          <a:lstStyle/>
          <a:p>
            <a:r>
              <a:rPr lang="en-IN" dirty="0"/>
              <a:t>Auditing Services &amp; Project Financing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2358518"/>
            <a:ext cx="5664000" cy="3833481"/>
          </a:xfrm>
        </p:spPr>
        <p:txBody>
          <a:bodyPr/>
          <a:lstStyle/>
          <a:p>
            <a:pPr>
              <a:spcAft>
                <a:spcPts val="600"/>
              </a:spcAft>
              <a:defRPr sz="2000" b="0"/>
            </a:pPr>
            <a:r>
              <a:rPr lang="en-US" b="1" dirty="0"/>
              <a:t>Auditing Services </a:t>
            </a:r>
            <a:r>
              <a:rPr lang="en-US" dirty="0"/>
              <a:t>– In-depth review of systems, procedures and controls; compliance verification under policies, statutes, GAAP, Accounting Standards and IFRS; checking genuineness of expenses; detection of income </a:t>
            </a:r>
            <a:r>
              <a:rPr lang="en-US" dirty="0" smtClean="0"/>
              <a:t>leakages; certification </a:t>
            </a:r>
            <a:r>
              <a:rPr lang="en-US" dirty="0"/>
              <a:t>of books and audit reports</a:t>
            </a:r>
            <a:r>
              <a:rPr lang="en-US" dirty="0" smtClean="0"/>
              <a:t>.</a:t>
            </a:r>
            <a:endParaRPr lang="en-US" dirty="0"/>
          </a:p>
          <a:p>
            <a:pPr>
              <a:spcAft>
                <a:spcPts val="600"/>
              </a:spcAft>
              <a:defRPr sz="2000" b="0"/>
            </a:pPr>
            <a:r>
              <a:rPr lang="en-US" b="1" dirty="0"/>
              <a:t>Project Financing </a:t>
            </a:r>
            <a:r>
              <a:rPr lang="en-US" dirty="0"/>
              <a:t>– Preparation of term loan applications, project reports and working capital proposals; arrangement of finance from banks and financial institutions; support on compromise and one-time settlement proposals.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Desk with computer, phone, books, etc.">
            <a:extLst>
              <a:ext uri="{FF2B5EF4-FFF2-40B4-BE49-F238E27FC236}">
                <a16:creationId xmlns:a16="http://schemas.microsoft.com/office/drawing/2014/main" xmlns="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xmlns="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06417"/>
            <a:ext cx="5956300" cy="1944000"/>
          </a:xfrm>
        </p:spPr>
        <p:txBody>
          <a:bodyPr/>
          <a:lstStyle/>
          <a:p>
            <a:r>
              <a:rPr lang="en-IN" dirty="0"/>
              <a:t>Tax Advisory &amp; GST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13244" y="2650417"/>
            <a:ext cx="6235700" cy="3720934"/>
          </a:xfrm>
        </p:spPr>
        <p:txBody>
          <a:bodyPr/>
          <a:lstStyle/>
          <a:p>
            <a:pPr>
              <a:spcAft>
                <a:spcPts val="600"/>
              </a:spcAft>
              <a:defRPr sz="2000" b="0"/>
            </a:pPr>
            <a:r>
              <a:rPr lang="en-US" dirty="0"/>
              <a:t>Income Tax Advisory – Tax management, advance tax, return filing, representation in assessments, appeals and search-related matters, employee tax management, international taxation and transfer pricing, corporate tax planning.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Goods and Services Tax (GST) – Registration support, GST return filing and regular compliances, GST health check-up and process assessment, GST audit and annual compliance management.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554661"/>
            <a:ext cx="11340000" cy="432000"/>
          </a:xfrm>
        </p:spPr>
        <p:txBody>
          <a:bodyPr/>
          <a:lstStyle/>
          <a:p>
            <a:r>
              <a:rPr lang="en-IN" dirty="0"/>
              <a:t>Accounting, MIS &amp; Statutory Compliances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297970"/>
            <a:ext cx="5472000" cy="360000"/>
          </a:xfrm>
        </p:spPr>
        <p:txBody>
          <a:bodyPr/>
          <a:lstStyle/>
          <a:p>
            <a:r>
              <a:rPr lang="en-US" dirty="0"/>
              <a:t>Accounting Services –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716590"/>
            <a:ext cx="5377785" cy="1384841"/>
          </a:xfrm>
        </p:spPr>
        <p:txBody>
          <a:bodyPr/>
          <a:lstStyle/>
          <a:p>
            <a:pPr>
              <a:spcAft>
                <a:spcPts val="600"/>
              </a:spcAft>
              <a:defRPr sz="2000" b="0"/>
            </a:pPr>
            <a:r>
              <a:rPr lang="en-US" dirty="0" smtClean="0"/>
              <a:t>Design </a:t>
            </a:r>
            <a:r>
              <a:rPr lang="en-US" dirty="0"/>
              <a:t>and implementation of accounting systems; bookkeeping and general accounting including payables, receivables, budgeting and ledgers; maintenance of purchase, sales, cash, supplier and customer books.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5A563457-1EC8-4978-BCCB-AFD88C9ED0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298494"/>
            <a:ext cx="5472000" cy="358775"/>
          </a:xfrm>
        </p:spPr>
        <p:txBody>
          <a:bodyPr/>
          <a:lstStyle/>
          <a:p>
            <a:r>
              <a:rPr lang="en-IN" dirty="0"/>
              <a:t>MIS Reports –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8" y="2735588"/>
            <a:ext cx="5263928" cy="1388150"/>
          </a:xfrm>
        </p:spPr>
        <p:txBody>
          <a:bodyPr/>
          <a:lstStyle/>
          <a:p>
            <a:r>
              <a:rPr lang="en-US" dirty="0"/>
              <a:t>Design and generation of pivotal MIS reports to support management decision-making, monitoring of fund usage and operational performance, meaningful reporting for middle and top management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xmlns="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4414760"/>
            <a:ext cx="5472000" cy="360000"/>
          </a:xfrm>
        </p:spPr>
        <p:txBody>
          <a:bodyPr/>
          <a:lstStyle/>
          <a:p>
            <a:r>
              <a:rPr lang="en-IN" dirty="0"/>
              <a:t>Statutory Compliances</a:t>
            </a:r>
            <a:endParaRPr lang="en-US" dirty="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xmlns="" id="{CEEB3BAE-C0B2-447C-B8BE-96C6BD84D658}"/>
              </a:ext>
            </a:extLst>
          </p:cNvPr>
          <p:cNvSpPr txBox="1">
            <a:spLocks/>
          </p:cNvSpPr>
          <p:nvPr/>
        </p:nvSpPr>
        <p:spPr>
          <a:xfrm>
            <a:off x="584400" y="4853911"/>
            <a:ext cx="10656029" cy="11483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2000" b="0"/>
            </a:pPr>
            <a:r>
              <a:rPr lang="en-US" dirty="0"/>
              <a:t>Corporate tax return preparation and filing; withholding tax certificates and e-TDS returns; representation in income tax cases and day-to-day advisory on remittances and transactions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Internal Audit &amp; Risk Advisory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431801" y="1003613"/>
            <a:ext cx="11328000" cy="2423536"/>
          </a:xfrm>
        </p:spPr>
        <p:txBody>
          <a:bodyPr/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/>
            </a:pPr>
            <a:r>
              <a:rPr lang="en-US" dirty="0"/>
              <a:t>Enterprise-wide risk-based audit programme tailored to business objectives.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/>
            </a:pPr>
            <a:r>
              <a:rPr lang="en-US" dirty="0"/>
              <a:t>Strengthening ethics, fraud deterrence and control culture.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/>
            </a:pPr>
            <a:r>
              <a:rPr lang="en-US" dirty="0"/>
              <a:t>Broadening audit scope to cover third-party and vendor risk.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/>
            </a:pPr>
            <a:r>
              <a:rPr lang="en-US" dirty="0"/>
              <a:t>Assessment of structure, technology, methodologies, people and performance against plans and policies.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/>
            </a:pPr>
            <a:r>
              <a:rPr lang="en-US" dirty="0"/>
              <a:t>Communication of results to management and audit committee for corrective 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623FB4D5-DA14-4F29-9320-2DE0A6B571B9}"/>
              </a:ext>
            </a:extLst>
          </p:cNvPr>
          <p:cNvSpPr txBox="1">
            <a:spLocks/>
          </p:cNvSpPr>
          <p:nvPr/>
        </p:nvSpPr>
        <p:spPr>
          <a:xfrm>
            <a:off x="431801" y="3631174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Company Law, NRI, NGO &amp; LLP Services</a:t>
            </a:r>
          </a:p>
        </p:txBody>
      </p:sp>
      <p:sp>
        <p:nvSpPr>
          <p:cNvPr id="11" name="Text Placeholder 4"/>
          <p:cNvSpPr txBox="1">
            <a:spLocks/>
          </p:cNvSpPr>
          <p:nvPr/>
        </p:nvSpPr>
        <p:spPr>
          <a:xfrm>
            <a:off x="431801" y="4311803"/>
            <a:ext cx="11328000" cy="2821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/>
            </a:pPr>
            <a:r>
              <a:rPr lang="en-US" dirty="0"/>
              <a:t>Company Law Consultancy – Company formation and registration; drafting of memorandum and articles; changes in company name, registered office and objects; annual return filing; statutory books; minutes and resolutions.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 b="0"/>
            </a:pPr>
            <a:r>
              <a:rPr lang="en-US" dirty="0"/>
              <a:t>NRI, NGO &amp; LLP Services – Non-resident taxation and FEMA advisory; branch/liaison/project office setup; NGO registration and 12A/80G; LLP registration, contribution structuring and agreement advisory.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 descr="Woman on laptop smiling">
            <a:extLst>
              <a:ext uri="{FF2B5EF4-FFF2-40B4-BE49-F238E27FC236}">
                <a16:creationId xmlns:a16="http://schemas.microsoft.com/office/drawing/2014/main" xmlns="" id="{35E3CE9E-B03C-CB4B-A83A-D3265C7A05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xmlns="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9572"/>
            <a:ext cx="4850780" cy="1527717"/>
          </a:xfrm>
        </p:spPr>
        <p:txBody>
          <a:bodyPr/>
          <a:lstStyle/>
          <a:p>
            <a:r>
              <a:rPr lang="en-IN" dirty="0"/>
              <a:t>Leadership Profiles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06498"/>
            <a:ext cx="7839308" cy="4564853"/>
          </a:xfrm>
        </p:spPr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rPr lang="en-IN" b="1" dirty="0"/>
              <a:t>CA </a:t>
            </a:r>
            <a:r>
              <a:rPr lang="en-IN" b="1" dirty="0" err="1"/>
              <a:t>Munesh</a:t>
            </a:r>
            <a:r>
              <a:rPr lang="en-IN" b="1" dirty="0"/>
              <a:t> Kumar Singh, </a:t>
            </a:r>
            <a:r>
              <a:rPr lang="en-IN" b="1" dirty="0" err="1"/>
              <a:t>M.Com</a:t>
            </a:r>
            <a:r>
              <a:rPr lang="en-IN" b="1" dirty="0"/>
              <a:t>, FCA – </a:t>
            </a:r>
            <a:r>
              <a:rPr lang="en-IN" dirty="0"/>
              <a:t>Founder partner with extensive statutory, internal, bank and tax audit experience; tax management, project financing and representation before tax authorities.</a:t>
            </a:r>
          </a:p>
          <a:p>
            <a:pPr>
              <a:spcAft>
                <a:spcPts val="400"/>
              </a:spcAft>
              <a:defRPr sz="1800"/>
            </a:pPr>
            <a:r>
              <a:rPr lang="en-IN" b="1" dirty="0"/>
              <a:t>CA </a:t>
            </a:r>
            <a:r>
              <a:rPr lang="en-IN" b="1" dirty="0" err="1"/>
              <a:t>Ankit</a:t>
            </a:r>
            <a:r>
              <a:rPr lang="en-IN" b="1" dirty="0"/>
              <a:t> </a:t>
            </a:r>
            <a:r>
              <a:rPr lang="en-IN" b="1" dirty="0" err="1"/>
              <a:t>Johri</a:t>
            </a:r>
            <a:r>
              <a:rPr lang="en-IN" b="1" dirty="0"/>
              <a:t>, </a:t>
            </a:r>
            <a:r>
              <a:rPr lang="en-IN" b="1" dirty="0" err="1"/>
              <a:t>B.Com</a:t>
            </a:r>
            <a:r>
              <a:rPr lang="en-IN" b="1" dirty="0"/>
              <a:t>, ACA –</a:t>
            </a:r>
            <a:r>
              <a:rPr lang="en-IN" dirty="0"/>
              <a:t> Internal auditor for ITC group; management consultancy, project financing, general accounting and MIS reporting.</a:t>
            </a:r>
          </a:p>
          <a:p>
            <a:pPr>
              <a:spcAft>
                <a:spcPts val="400"/>
              </a:spcAft>
              <a:defRPr sz="1800"/>
            </a:pPr>
            <a:r>
              <a:rPr lang="en-IN" b="1" dirty="0"/>
              <a:t>CA </a:t>
            </a:r>
            <a:r>
              <a:rPr lang="en-IN" b="1" dirty="0" err="1"/>
              <a:t>Akhil</a:t>
            </a:r>
            <a:r>
              <a:rPr lang="en-IN" b="1" dirty="0"/>
              <a:t> </a:t>
            </a:r>
            <a:r>
              <a:rPr lang="en-IN" b="1" dirty="0" err="1"/>
              <a:t>Goel</a:t>
            </a:r>
            <a:r>
              <a:rPr lang="en-IN" b="1" dirty="0"/>
              <a:t>, </a:t>
            </a:r>
            <a:r>
              <a:rPr lang="en-IN" b="1" dirty="0" err="1"/>
              <a:t>B.Com</a:t>
            </a:r>
            <a:r>
              <a:rPr lang="en-IN" b="1" dirty="0"/>
              <a:t> (H), FCA, DISA, FAFD – </a:t>
            </a:r>
            <a:r>
              <a:rPr lang="en-IN" dirty="0"/>
              <a:t>Experience at </a:t>
            </a:r>
            <a:r>
              <a:rPr lang="en-IN" dirty="0" err="1"/>
              <a:t>Mawana</a:t>
            </a:r>
            <a:r>
              <a:rPr lang="en-IN" dirty="0"/>
              <a:t> Sugars, LG Electronics, Alstom T&amp;D and Voltas; internal controls, internal audits and GST compliances.</a:t>
            </a:r>
          </a:p>
          <a:p>
            <a:pPr>
              <a:spcAft>
                <a:spcPts val="400"/>
              </a:spcAft>
              <a:defRPr sz="1800"/>
            </a:pPr>
            <a:r>
              <a:rPr lang="en-IN" b="1" dirty="0"/>
              <a:t>CA </a:t>
            </a:r>
            <a:r>
              <a:rPr lang="en-IN" b="1" dirty="0" err="1"/>
              <a:t>Bhanu</a:t>
            </a:r>
            <a:r>
              <a:rPr lang="en-IN" b="1" dirty="0"/>
              <a:t> </a:t>
            </a:r>
            <a:r>
              <a:rPr lang="en-IN" b="1" dirty="0" err="1"/>
              <a:t>Goel</a:t>
            </a:r>
            <a:r>
              <a:rPr lang="en-IN" b="1" dirty="0"/>
              <a:t>, </a:t>
            </a:r>
            <a:r>
              <a:rPr lang="en-IN" b="1" dirty="0" err="1"/>
              <a:t>B.Com</a:t>
            </a:r>
            <a:r>
              <a:rPr lang="en-IN" b="1" dirty="0"/>
              <a:t> (H), FCA, LL.B, DISA – </a:t>
            </a:r>
            <a:r>
              <a:rPr lang="en-IN" dirty="0"/>
              <a:t>Internal audit and indirect tax specialist with focus on GST assessments and litigations.</a:t>
            </a:r>
          </a:p>
          <a:p>
            <a:pPr>
              <a:spcAft>
                <a:spcPts val="400"/>
              </a:spcAft>
              <a:defRPr sz="1800"/>
            </a:pPr>
            <a:r>
              <a:rPr lang="en-IN" b="1" dirty="0"/>
              <a:t>CA </a:t>
            </a:r>
            <a:r>
              <a:rPr lang="en-IN" b="1" dirty="0" err="1"/>
              <a:t>Nitin</a:t>
            </a:r>
            <a:r>
              <a:rPr lang="en-IN" b="1" dirty="0"/>
              <a:t> Khanna, </a:t>
            </a:r>
            <a:r>
              <a:rPr lang="en-IN" b="1" dirty="0" err="1"/>
              <a:t>B.Com</a:t>
            </a:r>
            <a:r>
              <a:rPr lang="en-IN" b="1" dirty="0"/>
              <a:t> (H), ACA – </a:t>
            </a:r>
            <a:r>
              <a:rPr lang="en-IN" dirty="0"/>
              <a:t>Nearly two decades in corporate finance; AGM Corporate Accounts at LG Electronics India leading MIS, monthly closings, IFC, fixed assets, sales accounting, channel finance and CMS operations.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Representative Clients – Corporates &amp; MNCs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xmlns="" id="{D355C61F-C8F1-4977-8E1F-F16C0D9EA88C}"/>
              </a:ext>
            </a:extLst>
          </p:cNvPr>
          <p:cNvSpPr txBox="1">
            <a:spLocks/>
          </p:cNvSpPr>
          <p:nvPr/>
        </p:nvSpPr>
        <p:spPr>
          <a:xfrm>
            <a:off x="431799" y="1059366"/>
            <a:ext cx="11466551" cy="5132633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2000" b="0"/>
            </a:pPr>
            <a:r>
              <a:rPr lang="en-IN" b="1" dirty="0"/>
              <a:t>LG Electronics India </a:t>
            </a:r>
            <a:r>
              <a:rPr lang="en-IN" dirty="0"/>
              <a:t>– advisory, consultancy, stock verification and compliance assignments.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b="1" dirty="0"/>
              <a:t>LS Cable India Private Limited </a:t>
            </a:r>
            <a:r>
              <a:rPr lang="en-IN" dirty="0"/>
              <a:t>– statutory audit and assurance services.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b="1" dirty="0"/>
              <a:t>Toshiba India </a:t>
            </a:r>
            <a:r>
              <a:rPr lang="en-IN" dirty="0"/>
              <a:t>– advisory and consultancy services.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b="1" dirty="0"/>
              <a:t>Voltas Ltd and Universal MEP </a:t>
            </a:r>
            <a:r>
              <a:rPr lang="en-IN" dirty="0"/>
              <a:t>– advisory, consultancy and physical verification of stocks.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b="1" dirty="0" err="1"/>
              <a:t>Mawana</a:t>
            </a:r>
            <a:r>
              <a:rPr lang="en-IN" b="1" dirty="0"/>
              <a:t> Sugars Ltd </a:t>
            </a:r>
            <a:r>
              <a:rPr lang="en-IN" dirty="0"/>
              <a:t>– general accounts and MIS exposure.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b="1" dirty="0" err="1"/>
              <a:t>Nuberg</a:t>
            </a:r>
            <a:r>
              <a:rPr lang="en-IN" b="1" dirty="0"/>
              <a:t> Engineering </a:t>
            </a:r>
            <a:r>
              <a:rPr lang="en-IN" dirty="0"/>
              <a:t>– physical verification of stocks.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b="1" dirty="0" err="1"/>
              <a:t>Shapoorji</a:t>
            </a:r>
            <a:r>
              <a:rPr lang="en-IN" b="1" dirty="0"/>
              <a:t> </a:t>
            </a:r>
            <a:r>
              <a:rPr lang="en-IN" b="1" dirty="0" err="1"/>
              <a:t>Pallonji</a:t>
            </a:r>
            <a:r>
              <a:rPr lang="en-IN" b="1" dirty="0"/>
              <a:t> Company Private Limited (Tata JV) </a:t>
            </a:r>
            <a:r>
              <a:rPr lang="en-IN" dirty="0"/>
              <a:t>– tax consultancy.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b="1" dirty="0"/>
              <a:t>Northwest Resource Management (International KPO) </a:t>
            </a:r>
            <a:r>
              <a:rPr lang="en-IN" dirty="0"/>
              <a:t>– statutory audit.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b="1" dirty="0"/>
              <a:t>ITC Hotels </a:t>
            </a:r>
            <a:r>
              <a:rPr lang="en-IN" dirty="0"/>
              <a:t>– assets management assignments.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Representative Clients – Banks, PSUs &amp; Others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xmlns="" id="{D355C61F-C8F1-4977-8E1F-F16C0D9EA88C}"/>
              </a:ext>
            </a:extLst>
          </p:cNvPr>
          <p:cNvSpPr txBox="1">
            <a:spLocks/>
          </p:cNvSpPr>
          <p:nvPr/>
        </p:nvSpPr>
        <p:spPr>
          <a:xfrm>
            <a:off x="431799" y="1059366"/>
            <a:ext cx="11466551" cy="5132633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2000" b="0"/>
            </a:pPr>
            <a:r>
              <a:rPr lang="en-IN" b="1" dirty="0"/>
              <a:t>Bank of India </a:t>
            </a:r>
            <a:r>
              <a:rPr lang="en-IN" dirty="0"/>
              <a:t>– statutory audit and assurance services.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b="1" dirty="0"/>
              <a:t>Punjab National Bank </a:t>
            </a:r>
            <a:r>
              <a:rPr lang="en-IN" dirty="0"/>
              <a:t>– statutory audit and assurance services.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b="1" dirty="0"/>
              <a:t>Indian Railway Catering and Tourism Corporation (IRCTC) </a:t>
            </a:r>
            <a:r>
              <a:rPr lang="en-IN" dirty="0"/>
              <a:t>– management consultancy assignments.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dirty="0"/>
              <a:t>Bureau of Energy Efficiency (BEE) and BIS compliances for </a:t>
            </a:r>
            <a:r>
              <a:rPr lang="en-IN" b="1" dirty="0"/>
              <a:t>Michelin Tyres</a:t>
            </a:r>
            <a:r>
              <a:rPr lang="en-IN" dirty="0"/>
              <a:t>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dirty="0"/>
              <a:t>Tax audits for clients such as </a:t>
            </a:r>
            <a:r>
              <a:rPr lang="en-IN" b="1" dirty="0" err="1"/>
              <a:t>Ekanek</a:t>
            </a:r>
            <a:r>
              <a:rPr lang="en-IN" b="1" dirty="0"/>
              <a:t> Networks </a:t>
            </a:r>
            <a:r>
              <a:rPr lang="en-IN" dirty="0"/>
              <a:t>(online trade), </a:t>
            </a:r>
            <a:r>
              <a:rPr lang="en-IN" b="1" dirty="0"/>
              <a:t>Jagdamba Enterprises </a:t>
            </a:r>
            <a:r>
              <a:rPr lang="en-IN" dirty="0"/>
              <a:t>(apparel manufacturing) and professional practices.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dirty="0"/>
              <a:t>Management consultancy and statutory compliances for </a:t>
            </a:r>
            <a:r>
              <a:rPr lang="en-IN" b="1" dirty="0"/>
              <a:t>Power Pulse </a:t>
            </a:r>
            <a:r>
              <a:rPr lang="en-IN" b="1" dirty="0" err="1"/>
              <a:t>Pvt.</a:t>
            </a:r>
            <a:r>
              <a:rPr lang="en-IN" b="1" dirty="0"/>
              <a:t> Ltd., B.K. </a:t>
            </a:r>
            <a:r>
              <a:rPr lang="en-IN" b="1" dirty="0" err="1"/>
              <a:t>Aircon</a:t>
            </a:r>
            <a:r>
              <a:rPr lang="en-IN" b="1" dirty="0"/>
              <a:t> </a:t>
            </a:r>
            <a:r>
              <a:rPr lang="en-IN" dirty="0"/>
              <a:t>(HVAC contractors) and </a:t>
            </a:r>
            <a:r>
              <a:rPr lang="en-IN" b="1" dirty="0"/>
              <a:t>AA Enterprises</a:t>
            </a:r>
            <a:r>
              <a:rPr lang="en-IN" dirty="0"/>
              <a:t>, </a:t>
            </a:r>
            <a:r>
              <a:rPr lang="en-IN" b="1" dirty="0"/>
              <a:t>Assured Services </a:t>
            </a:r>
            <a:r>
              <a:rPr lang="en-IN" dirty="0"/>
              <a:t>(manpower supply contractors).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dirty="0"/>
              <a:t>Statutory compliances </a:t>
            </a:r>
            <a:r>
              <a:rPr lang="en-IN" b="1" dirty="0"/>
              <a:t>for AVJ Developers </a:t>
            </a:r>
            <a:r>
              <a:rPr lang="en-IN" dirty="0"/>
              <a:t>(under CIRP), </a:t>
            </a:r>
            <a:r>
              <a:rPr lang="en-IN" b="1" dirty="0" err="1"/>
              <a:t>Purvanchal</a:t>
            </a:r>
            <a:r>
              <a:rPr lang="en-IN" b="1" dirty="0"/>
              <a:t> Heights </a:t>
            </a:r>
            <a:r>
              <a:rPr lang="en-IN" dirty="0"/>
              <a:t>(AOA) </a:t>
            </a:r>
            <a:r>
              <a:rPr lang="en-IN" b="1" dirty="0"/>
              <a:t>and </a:t>
            </a:r>
            <a:r>
              <a:rPr lang="en-IN" b="1" dirty="0" err="1"/>
              <a:t>Indosam</a:t>
            </a:r>
            <a:r>
              <a:rPr lang="en-IN" b="1" dirty="0"/>
              <a:t> Developers</a:t>
            </a:r>
            <a:r>
              <a:rPr lang="en-IN" dirty="0"/>
              <a:t> (AOA).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9236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Delivery Approach &amp; Client Value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xmlns="" id="{D355C61F-C8F1-4977-8E1F-F16C0D9EA88C}"/>
              </a:ext>
            </a:extLst>
          </p:cNvPr>
          <p:cNvSpPr txBox="1">
            <a:spLocks/>
          </p:cNvSpPr>
          <p:nvPr/>
        </p:nvSpPr>
        <p:spPr>
          <a:xfrm>
            <a:off x="431799" y="1182027"/>
            <a:ext cx="9057889" cy="5132633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2000" b="0"/>
            </a:pPr>
            <a:r>
              <a:rPr lang="en-US" dirty="0"/>
              <a:t>Risk-based planning aligned to client industry, scale and regulatory landscape.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Disciplined documentation and testing of controls and IFC frameworks to strengthen governance.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Structured fieldwork with clear audit programs, timely issue escalation and closure.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Concise MIS and management reporting focused on actionable recommendations.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Continuous partner involvement and year-on-year process improvement for sustainable benefits.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268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MBAG Can Support Your Organization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xmlns="" id="{D355C61F-C8F1-4977-8E1F-F16C0D9EA88C}"/>
              </a:ext>
            </a:extLst>
          </p:cNvPr>
          <p:cNvSpPr txBox="1">
            <a:spLocks/>
          </p:cNvSpPr>
          <p:nvPr/>
        </p:nvSpPr>
        <p:spPr>
          <a:xfrm>
            <a:off x="431799" y="1182027"/>
            <a:ext cx="9057889" cy="5132633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2000" b="0"/>
            </a:pPr>
            <a:r>
              <a:rPr lang="en-US" dirty="0"/>
              <a:t>Comprehensive statutory and internal audits that surface control gaps, leakages and compliance risks.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Design and strengthening of IFC and process workflows using large-corporate experience.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GST and direct tax compliances, assessments and litigation support.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Special reviews for stock, fixed assets, revenue assurance and fraud risk.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US" dirty="0"/>
              <a:t>Ongoing advisory support for new business initiatives, structures and regulatory change.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268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conference room">
            <a:extLst>
              <a:ext uri="{FF2B5EF4-FFF2-40B4-BE49-F238E27FC236}">
                <a16:creationId xmlns:a16="http://schemas.microsoft.com/office/drawing/2014/main" xmlns="" id="{8F5AE0D5-C196-A947-8AFE-449A48B261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" b="45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B86E961-B76E-423F-995E-11B31E921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9249" y="1728439"/>
            <a:ext cx="7277620" cy="2875442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pPr>
              <a:spcAft>
                <a:spcPts val="600"/>
              </a:spcAft>
              <a:defRPr sz="2000" b="0"/>
            </a:pPr>
            <a:r>
              <a:rPr lang="en-IN" dirty="0"/>
              <a:t>Office: 215, </a:t>
            </a:r>
            <a:r>
              <a:rPr lang="en-IN" dirty="0" err="1"/>
              <a:t>Chanakya</a:t>
            </a:r>
            <a:r>
              <a:rPr lang="en-IN" dirty="0"/>
              <a:t> Complex, B-10 &amp; 11, </a:t>
            </a:r>
            <a:r>
              <a:rPr lang="en-IN" dirty="0" err="1"/>
              <a:t>Subhash</a:t>
            </a:r>
            <a:r>
              <a:rPr lang="en-IN" dirty="0"/>
              <a:t> </a:t>
            </a:r>
            <a:r>
              <a:rPr lang="en-IN" dirty="0" err="1"/>
              <a:t>Chowk</a:t>
            </a:r>
            <a:r>
              <a:rPr lang="en-IN" dirty="0"/>
              <a:t>, </a:t>
            </a:r>
            <a:r>
              <a:rPr lang="en-IN" dirty="0" err="1"/>
              <a:t>Laxmi</a:t>
            </a:r>
            <a:r>
              <a:rPr lang="en-IN" dirty="0"/>
              <a:t> Nagar, Delhi – 110092.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dirty="0"/>
              <a:t>Mobile: +91-9810569504 | Office: 011-41102702.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dirty="0"/>
              <a:t>Email: akhilgoelca1982@gmail.com.</a:t>
            </a:r>
          </a:p>
          <a:p>
            <a:pPr>
              <a:spcAft>
                <a:spcPts val="600"/>
              </a:spcAft>
              <a:defRPr sz="2000" b="0"/>
            </a:pPr>
            <a:r>
              <a:rPr lang="en-IN" dirty="0"/>
              <a:t>Next step: scoping meeting to align on engagement coverage, timelines and deliverables.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1" name="Title 10" hidden="1">
            <a:extLst>
              <a:ext uri="{FF2B5EF4-FFF2-40B4-BE49-F238E27FC236}">
                <a16:creationId xmlns:a16="http://schemas.microsoft.com/office/drawing/2014/main" xmlns="" id="{C5462610-1D7E-437B-B516-F30D9A78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xmlns="" id="{6C38D7A9-9299-4108-BB08-026F4B9CAE7B}"/>
              </a:ext>
            </a:extLst>
          </p:cNvPr>
          <p:cNvSpPr txBox="1">
            <a:spLocks/>
          </p:cNvSpPr>
          <p:nvPr/>
        </p:nvSpPr>
        <p:spPr>
          <a:xfrm>
            <a:off x="4758059" y="579261"/>
            <a:ext cx="3733800" cy="101368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Contact &amp; Next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Placeholder 31" descr="hand clapping">
            <a:extLst>
              <a:ext uri="{FF2B5EF4-FFF2-40B4-BE49-F238E27FC236}">
                <a16:creationId xmlns:a16="http://schemas.microsoft.com/office/drawing/2014/main" xmlns="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xmlns="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8" name="Graphic 7" descr="User" title="Icon - Presenter Name">
            <a:extLst>
              <a:ext uri="{FF2B5EF4-FFF2-40B4-BE49-F238E27FC236}">
                <a16:creationId xmlns:a16="http://schemas.microsoft.com/office/drawing/2014/main" xmlns="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485495" y="4006655"/>
            <a:ext cx="218900" cy="2189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IN" dirty="0"/>
              <a:t>+91-9810569504</a:t>
            </a:r>
            <a:endParaRPr lang="en-US" dirty="0"/>
          </a:p>
        </p:txBody>
      </p:sp>
      <p:pic>
        <p:nvPicPr>
          <p:cNvPr id="10" name="Graphic 9" descr="Smart Phone" title="Icon - Presenter Phone Number">
            <a:extLst>
              <a:ext uri="{FF2B5EF4-FFF2-40B4-BE49-F238E27FC236}">
                <a16:creationId xmlns:a16="http://schemas.microsoft.com/office/drawing/2014/main" xmlns="" id="{A29DE31C-E099-4579-BB03-675E0A40C5F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1485495" y="4355103"/>
            <a:ext cx="218900" cy="218900"/>
          </a:xfrm>
          <a:prstGeom prst="rect">
            <a:avLst/>
          </a:prstGeom>
        </p:spPr>
      </p:pic>
      <p:pic>
        <p:nvPicPr>
          <p:cNvPr id="9" name="Graphic 8" descr="Envelope" title="Icon Presenter Email">
            <a:extLst>
              <a:ext uri="{FF2B5EF4-FFF2-40B4-BE49-F238E27FC236}">
                <a16:creationId xmlns:a16="http://schemas.microsoft.com/office/drawing/2014/main" xmlns="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1485495" y="4703551"/>
            <a:ext cx="218900" cy="2189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IN" dirty="0"/>
              <a:t>MBAG &amp; ASSOCIATES</a:t>
            </a:r>
            <a:endParaRPr lang="en-US" dirty="0"/>
          </a:p>
        </p:txBody>
      </p:sp>
      <p:pic>
        <p:nvPicPr>
          <p:cNvPr id="11" name="Graphic 10" descr="Link">
            <a:extLst>
              <a:ext uri="{FF2B5EF4-FFF2-40B4-BE49-F238E27FC236}">
                <a16:creationId xmlns:a16="http://schemas.microsoft.com/office/drawing/2014/main" xmlns="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1472552" y="5040763"/>
            <a:ext cx="244786" cy="244786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dirty="0" smtClean="0"/>
              <a:t>akhilgoelca1982@gmail.com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0_Bright business presentation_AAS_v3" id="{57D58BC9-3F05-45D4-81CD-7BA898B4CAAD}" vid="{0F92AA19-00D6-4C71-B13F-219D7994A0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B5DD7-8DCC-4069-9EB3-5D09818665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90D0D0-7C1D-47FF-A2F0-9937AA567A3D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www.w3.org/XML/1998/namespace"/>
    <ds:schemaRef ds:uri="http://purl.org/dc/terms/"/>
    <ds:schemaRef ds:uri="71af3243-3dd4-4a8d-8c0d-dd76da1f02a5"/>
    <ds:schemaRef ds:uri="http://purl.org/dc/dcmitype/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B8E15EA0-2F38-456B-B156-038699A5D1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Bright business presentation</Template>
  <TotalTime>0</TotalTime>
  <Words>1086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Candara</vt:lpstr>
      <vt:lpstr>Corbel</vt:lpstr>
      <vt:lpstr>Times New Roman</vt:lpstr>
      <vt:lpstr>Office Theme</vt:lpstr>
      <vt:lpstr>MBAG &amp; ASSOCIATES</vt:lpstr>
      <vt:lpstr>Firm Snapshot</vt:lpstr>
      <vt:lpstr>Auditing Services &amp; Project Financing</vt:lpstr>
      <vt:lpstr>Tax Advisory &amp; GST</vt:lpstr>
      <vt:lpstr>Accounting, MIS &amp; Statutory Compliances</vt:lpstr>
      <vt:lpstr>Internal Audit &amp; Risk Advisory</vt:lpstr>
      <vt:lpstr>Leadership Profiles</vt:lpstr>
      <vt:lpstr>Representative Clients – Corporates &amp; MNCs</vt:lpstr>
      <vt:lpstr>Representative Clients – Banks, PSUs &amp; Others</vt:lpstr>
      <vt:lpstr>Delivery Approach &amp; Client Value</vt:lpstr>
      <vt:lpstr>How MBAG Can Support Your Organization</vt:lpstr>
      <vt:lpstr>Large image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MBAG</dc:title>
  <dc:creator/>
  <cp:lastModifiedBy/>
  <cp:revision>1</cp:revision>
  <dcterms:created xsi:type="dcterms:W3CDTF">2026-08-24T15:30:56Z</dcterms:created>
  <dcterms:modified xsi:type="dcterms:W3CDTF">2026-08-24T16:15:26Z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